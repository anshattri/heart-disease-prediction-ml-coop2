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4" r:id="rId12"/>
    <p:sldId id="270" r:id="rId13"/>
    <p:sldId id="271" r:id="rId14"/>
    <p:sldId id="272" r:id="rId15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jVfyFCWzGAS+kXViArWO7iqui5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8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8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8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8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8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6;p18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18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8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8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8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22;p18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" name="Google Shape;24;p18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-114300" y="991281"/>
            <a:ext cx="9144000" cy="6418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Disease Prediction using Machine Learning</a:t>
            </a:r>
            <a:endParaRPr lang="en-GB" dirty="0">
              <a:ea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By:-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Ansh – 2210991288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Karan - 2210991748</a:t>
            </a:r>
            <a:endParaRPr lang="en-US" sz="2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cs typeface="Times New Roman"/>
                <a:sym typeface="Times New Roman"/>
              </a:rPr>
              <a:t>Jatin Dhingra – 2210991708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cs typeface="Times New Roman"/>
                <a:sym typeface="Times New Roman"/>
              </a:rPr>
              <a:t>Suryansh Chabba - 2210992424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By:-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Gifty Gupta</a:t>
            </a:r>
            <a:endParaRPr sz="2000" b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</a:t>
            </a:r>
            <a:r>
              <a:rPr lang="en-US" sz="2400" b="0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and Engineering,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endParaRPr sz="2000" b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>
                <a:latin typeface="Times New Roman"/>
                <a:ea typeface="Times New Roman"/>
                <a:cs typeface="Times New Roman"/>
                <a:sym typeface="Times New Roman"/>
              </a:rPr>
              <a:t> Contents</a:t>
            </a:r>
            <a:endParaRPr/>
          </a:p>
        </p:txBody>
      </p:sp>
      <p:sp>
        <p:nvSpPr>
          <p:cNvPr id="90" name="Google Shape;90;p2"/>
          <p:cNvSpPr txBox="1">
            <a:spLocks noGrp="1"/>
          </p:cNvSpPr>
          <p:nvPr>
            <p:ph type="subTitle" idx="1"/>
          </p:nvPr>
        </p:nvSpPr>
        <p:spPr>
          <a:xfrm>
            <a:off x="133984" y="1368065"/>
            <a:ext cx="7324365" cy="345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/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dirty="0"/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GB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dirty="0"/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Dataset Description</a:t>
            </a:r>
            <a:endParaRPr dirty="0"/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Methodology</a:t>
            </a:r>
            <a:endParaRPr dirty="0"/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Algorithms Used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lts and Discussion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/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0" y="37001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500" b="1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113642" y="874721"/>
            <a:ext cx="8916715" cy="510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presents a machine learning-based system for predicting heart disease using patient medical data.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offers: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/>
              <a:t>Accurate heart disease prediction using supervised machine learning</a:t>
            </a:r>
          </a:p>
          <a:p>
            <a:pPr lvl="0"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/>
              <a:t>Comparative performance evaluation based on prediction accuracy</a:t>
            </a:r>
          </a:p>
          <a:p>
            <a:pPr lvl="0"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/>
              <a:t>Implementation of Logistic Regression, KNN, Decision Tree, and Random Forest models</a:t>
            </a:r>
          </a:p>
          <a:p>
            <a:pPr lvl="0"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/>
              <a:t>An efficient and intelligent healthcare support system for early diagnosis</a:t>
            </a:r>
          </a:p>
          <a:p>
            <a:pPr lvl="0"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/>
              <a:t>The system helps healthcare professionals identify potential heart disease risks at an early stage, improving patient care and reducing diagnostic complexity.</a:t>
            </a: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/>
              <a:t>Analysis of medical attributes such as age, blood pressure, cholesterol, and heart rate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lang="en-US" sz="35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Statement</a:t>
            </a:r>
            <a:endParaRPr sz="3500" b="1"/>
          </a:p>
        </p:txBody>
      </p:sp>
      <p:sp>
        <p:nvSpPr>
          <p:cNvPr id="102" name="Google Shape;102;p4"/>
          <p:cNvSpPr txBox="1">
            <a:spLocks noGrp="1"/>
          </p:cNvSpPr>
          <p:nvPr>
            <p:ph type="subTitle" idx="1"/>
          </p:nvPr>
        </p:nvSpPr>
        <p:spPr>
          <a:xfrm>
            <a:off x="81280" y="998621"/>
            <a:ext cx="8981439" cy="546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>
              <a:spcBef>
                <a:spcPts val="0"/>
              </a:spcBef>
              <a:buSzPts val="2400"/>
              <a:buNone/>
            </a:pPr>
            <a:r>
              <a:rPr lang="en-GB" sz="2400" dirty="0"/>
              <a:t>The traditional process of diagnosing heart disease faces several challenges:</a:t>
            </a:r>
          </a:p>
          <a:p>
            <a:pPr marL="0" lvl="0" indent="0">
              <a:spcBef>
                <a:spcPts val="0"/>
              </a:spcBef>
              <a:buSzPts val="2400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spcBef>
                <a:spcPts val="0"/>
              </a:spcBef>
              <a:buSzPts val="2000"/>
            </a:pPr>
            <a:r>
              <a:rPr lang="en-GB" sz="2000" dirty="0"/>
              <a:t>Time-consuming medical tests and expert analysis</a:t>
            </a:r>
          </a:p>
          <a:p>
            <a:pPr marL="0" lvl="0" indent="0">
              <a:spcBef>
                <a:spcPts val="0"/>
              </a:spcBef>
              <a:buSzPts val="2000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spcBef>
                <a:spcPts val="0"/>
              </a:spcBef>
              <a:buSzPts val="2000"/>
            </a:pPr>
            <a:r>
              <a:rPr lang="en-GB" sz="2000" dirty="0"/>
              <a:t>Possibility of human errors in complex diagnosis</a:t>
            </a:r>
          </a:p>
          <a:p>
            <a:pPr marL="0" lvl="0" indent="0">
              <a:spcBef>
                <a:spcPts val="0"/>
              </a:spcBef>
              <a:buSzPts val="2000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spcBef>
                <a:spcPts val="0"/>
              </a:spcBef>
              <a:buSzPts val="2000"/>
            </a:pPr>
            <a:r>
              <a:rPr lang="en-GB" sz="2000" dirty="0"/>
              <a:t>Increasing number of heart disease cases worldwide</a:t>
            </a:r>
          </a:p>
          <a:p>
            <a:pPr marL="0" lvl="0" indent="0">
              <a:spcBef>
                <a:spcPts val="0"/>
              </a:spcBef>
              <a:buSzPts val="2000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spcBef>
                <a:spcPts val="0"/>
              </a:spcBef>
              <a:buSzPts val="2000"/>
            </a:pPr>
            <a:r>
              <a:rPr lang="en-GB" sz="2000" dirty="0"/>
              <a:t>Lack of intelligent systems for early prediction and analysis</a:t>
            </a:r>
          </a:p>
          <a:p>
            <a:pPr marL="342900" lvl="0" indent="-342900">
              <a:spcBef>
                <a:spcPts val="0"/>
              </a:spcBef>
              <a:buSzPts val="2000"/>
            </a:pPr>
            <a:endParaRPr lang="en-GB"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spcBef>
                <a:spcPts val="0"/>
              </a:spcBef>
              <a:buSzPts val="2000"/>
            </a:pPr>
            <a:r>
              <a:rPr lang="en-GB" sz="2000" dirty="0"/>
              <a:t>Our project addresses these challenges by providing an automated machine learning-based prediction system capable of </a:t>
            </a:r>
            <a:r>
              <a:rPr lang="en-GB" sz="2000" dirty="0" err="1"/>
              <a:t>analyzing</a:t>
            </a:r>
            <a:r>
              <a:rPr lang="en-GB" sz="2000" dirty="0"/>
              <a:t> patient data efficiently and accurately.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dirty="0">
                <a:latin typeface="Times New Roman"/>
                <a:ea typeface="Times New Roman"/>
                <a:cs typeface="Times New Roman"/>
                <a:sym typeface="Times New Roman"/>
              </a:rPr>
              <a:t> Objectives</a:t>
            </a:r>
            <a:endParaRPr dirty="0"/>
          </a:p>
        </p:txBody>
      </p:sp>
      <p:sp>
        <p:nvSpPr>
          <p:cNvPr id="108" name="Google Shape;108;p5"/>
          <p:cNvSpPr txBox="1"/>
          <p:nvPr/>
        </p:nvSpPr>
        <p:spPr>
          <a:xfrm>
            <a:off x="4043778" y="300509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0" y="816746"/>
            <a:ext cx="9144000" cy="58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aims to: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/>
              <a:t>Develop an automated system for predicting heart disease using machine learning techniques.</a:t>
            </a:r>
          </a:p>
          <a:p>
            <a:pPr lvl="0"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/>
              <a:t>Analyze patient medical data for identifying disease-related patterns</a:t>
            </a:r>
          </a:p>
          <a:p>
            <a:pPr lvl="0"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/>
              <a:t>Implement and compare supervised learning algorithms such as Logistic Regression, KNN, Decision Tree, and Random Forest.</a:t>
            </a:r>
          </a:p>
          <a:p>
            <a:pPr lvl="0"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/>
              <a:t>Compare model performance based on accuracy and reliability</a:t>
            </a:r>
          </a:p>
          <a:p>
            <a:pPr lvl="0"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/>
              <a:t>Support healthcare professionals in faster and more informed decision-making</a:t>
            </a:r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endParaRPr lang="en-GB" sz="2000" dirty="0"/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/>
              <a:t>Improve prediction accuracy and support healthcare professionals in early diagnosis and treatment.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dirty="0"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dirty="0"/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0" y="1551117"/>
            <a:ext cx="8873412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>
              <a:spcBef>
                <a:spcPts val="0"/>
              </a:spcBef>
              <a:buSzPts val="2000"/>
              <a:buNone/>
            </a:pPr>
            <a:r>
              <a:rPr lang="en-GB" sz="2000" b="1" dirty="0"/>
              <a:t>Machine Learning-Based Prediction: </a:t>
            </a:r>
            <a:r>
              <a:rPr lang="en-GB" sz="2000" dirty="0"/>
              <a:t>Predicts heart disease using supervised learning algorithms trained on medical datasets.</a:t>
            </a:r>
          </a:p>
          <a:p>
            <a:pPr marL="0" lvl="0" indent="0">
              <a:spcBef>
                <a:spcPts val="0"/>
              </a:spcBef>
              <a:buSzPts val="2000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0"/>
              </a:spcBef>
              <a:buSzPts val="2000"/>
              <a:buNone/>
            </a:pPr>
            <a:r>
              <a:rPr lang="en-GB" sz="2000" b="1" dirty="0"/>
              <a:t>Comparative Model Analysis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2000" dirty="0"/>
              <a:t>Evaluates Logistic Regression, KNN, Decision Tree, and Random Forest models for performance comparison.</a:t>
            </a:r>
            <a:br>
              <a:rPr lang="en-GB" sz="2000" dirty="0"/>
            </a:b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0"/>
              </a:spcBef>
              <a:buSzPts val="2000"/>
              <a:buNone/>
            </a:pPr>
            <a:r>
              <a:rPr lang="en-GB" sz="2000" b="1" dirty="0"/>
              <a:t>Efficient Data Processing: </a:t>
            </a:r>
            <a:r>
              <a:rPr lang="en-GB" sz="2000" dirty="0"/>
              <a:t>Applies preprocessing techniques such as normalization, feature scaling, and missing value handling.</a:t>
            </a:r>
          </a:p>
          <a:p>
            <a:pPr marL="0" lvl="0" indent="0">
              <a:spcBef>
                <a:spcPts val="0"/>
              </a:spcBef>
              <a:buSzPts val="2000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0"/>
              </a:spcBef>
              <a:buSzPts val="2000"/>
              <a:buNone/>
            </a:pPr>
            <a:r>
              <a:rPr lang="en-GB" sz="2000" b="1" dirty="0"/>
              <a:t>Accurate Disease Prediction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2000" dirty="0"/>
              <a:t>Random Forest achieved the highest prediction accuracy among all implemented models.</a:t>
            </a:r>
          </a:p>
          <a:p>
            <a:pPr marL="0" lvl="0" indent="0">
              <a:spcBef>
                <a:spcPts val="0"/>
              </a:spcBef>
              <a:buSzPts val="2000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0"/>
              </a:spcBef>
              <a:buSzPts val="2000"/>
              <a:buNone/>
            </a:pPr>
            <a:r>
              <a:rPr lang="en-GB" sz="2000" b="1" dirty="0"/>
              <a:t>Healthcare Decision Support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000" dirty="0"/>
              <a:t>Assists healthcare professionals in early diagnosis and improved clinical decision-making.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dirty="0">
                <a:latin typeface="Times New Roman"/>
                <a:ea typeface="Times New Roman"/>
                <a:cs typeface="Times New Roman"/>
                <a:sym typeface="Times New Roman"/>
              </a:rPr>
              <a:t> Dataset Description</a:t>
            </a:r>
            <a:endParaRPr sz="35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0" y="1225711"/>
            <a:ext cx="9039224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400"/>
              <a:buNone/>
            </a:pPr>
            <a:r>
              <a:rPr lang="en-GB" sz="2400" dirty="0"/>
              <a:t>The research uses the UCI Heart Disease Dataset, which contains structured medical information collected from various clinical sources.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400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400"/>
              <a:buNone/>
            </a:pPr>
            <a:r>
              <a:rPr lang="en-GB" sz="2400" dirty="0"/>
              <a:t>Important features include: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sz="2400" dirty="0"/>
              <a:t>Age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sz="2400" dirty="0"/>
              <a:t>Sex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sz="2400" dirty="0"/>
              <a:t>Chest Pain Type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sz="2400" dirty="0"/>
              <a:t>Blood Pressure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sz="2400" dirty="0"/>
              <a:t>Cholesterol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sz="2400" dirty="0"/>
              <a:t>ECG Results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sz="2400" dirty="0"/>
              <a:t>Maximum Heart Rate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sz="2400" dirty="0"/>
              <a:t>Target Variable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400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dirty="0">
                <a:latin typeface="Times New Roman"/>
                <a:ea typeface="Times New Roman"/>
                <a:cs typeface="Times New Roman"/>
                <a:sym typeface="Times New Roman"/>
              </a:rPr>
              <a:t> Methodology</a:t>
            </a:r>
            <a:endParaRPr dirty="0"/>
          </a:p>
        </p:txBody>
      </p:sp>
      <p:sp>
        <p:nvSpPr>
          <p:cNvPr id="127" name="Google Shape;127;p8"/>
          <p:cNvSpPr txBox="1">
            <a:spLocks noGrp="1"/>
          </p:cNvSpPr>
          <p:nvPr>
            <p:ph type="body" idx="1"/>
          </p:nvPr>
        </p:nvSpPr>
        <p:spPr>
          <a:xfrm>
            <a:off x="0" y="1595042"/>
            <a:ext cx="8877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sz="2400" dirty="0"/>
              <a:t>The dataset was pre-processed using normalization, feature scaling, and handling missing values.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endParaRPr lang="en-GB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sz="2400" dirty="0"/>
              <a:t>The data was divided into training and testing sets.</a:t>
            </a: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endParaRPr lang="en-GB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sz="2400" dirty="0"/>
              <a:t>Four supervised machine learning algorithms were implemented using Python and Scikit-learn.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400"/>
              <a:buNone/>
            </a:pPr>
            <a:endParaRPr lang="en-GB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algn="just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sz="2400" dirty="0"/>
              <a:t>Workflow: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2400"/>
              <a:buNone/>
            </a:pPr>
            <a:r>
              <a:rPr lang="en-GB" sz="2400" dirty="0"/>
              <a:t>	Data Collection → Preprocessing → Model Training → Prediction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Algorithms Used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FFBBE-0AC7-F0AB-7689-5751300F3C54}"/>
              </a:ext>
            </a:extLst>
          </p:cNvPr>
          <p:cNvSpPr txBox="1"/>
          <p:nvPr/>
        </p:nvSpPr>
        <p:spPr>
          <a:xfrm>
            <a:off x="117988" y="993058"/>
            <a:ext cx="8839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Logistic Regression</a:t>
            </a:r>
            <a:r>
              <a:rPr lang="en-GB" b="1" dirty="0"/>
              <a:t>: </a:t>
            </a:r>
            <a:r>
              <a:rPr lang="en-GB" sz="2400" dirty="0"/>
              <a:t>Used for binary classification problems and predicts probability of heart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K-Nearest Neighbours (KNN): </a:t>
            </a:r>
            <a:r>
              <a:rPr lang="en-GB" sz="2400" dirty="0"/>
              <a:t>Classifies data based on similarity with neighboring data points.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Decision Tree: </a:t>
            </a:r>
            <a:r>
              <a:rPr lang="en-GB" sz="2400" dirty="0"/>
              <a:t>Uses tree-like structures for decision-making and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Random Forest: </a:t>
            </a:r>
            <a:r>
              <a:rPr lang="en-GB" sz="2400" dirty="0"/>
              <a:t>Combines multiple decision trees to improve prediction accuracy and reduce overfitting.</a:t>
            </a:r>
            <a:endParaRPr lang="en-GB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01DA1-19C3-E8CE-746D-FBC2A62F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&amp; Discussion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3DA6B-0E68-91D6-7900-6604F4D80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23" y="1061884"/>
            <a:ext cx="8937521" cy="4700996"/>
          </a:xfrm>
        </p:spPr>
        <p:txBody>
          <a:bodyPr/>
          <a:lstStyle/>
          <a:p>
            <a:pPr marL="50800" indent="0">
              <a:buNone/>
            </a:pPr>
            <a:r>
              <a:rPr lang="en-GB" sz="2400" dirty="0"/>
              <a:t>The implemented machine learning models achieved the following accuracy:</a:t>
            </a:r>
          </a:p>
          <a:p>
            <a:r>
              <a:rPr lang="en-GB" sz="2400" dirty="0"/>
              <a:t>Logistic Regression – 82%</a:t>
            </a:r>
          </a:p>
          <a:p>
            <a:r>
              <a:rPr lang="en-GB" sz="2400" dirty="0"/>
              <a:t>K-Nearest Neighbours (KNN) – 80%</a:t>
            </a:r>
          </a:p>
          <a:p>
            <a:r>
              <a:rPr lang="en-GB" sz="2400" dirty="0"/>
              <a:t>Decision Tree – 84%</a:t>
            </a:r>
          </a:p>
          <a:p>
            <a:r>
              <a:rPr lang="en-GB" sz="2400" dirty="0"/>
              <a:t>Random Forest – 89%</a:t>
            </a:r>
          </a:p>
          <a:p>
            <a:pPr marL="50800" indent="0">
              <a:buNone/>
            </a:pPr>
            <a:endParaRPr lang="en-GB" dirty="0"/>
          </a:p>
          <a:p>
            <a:pPr marL="50800" indent="0">
              <a:buNone/>
            </a:pPr>
            <a:r>
              <a:rPr lang="en-GB" sz="2400" dirty="0"/>
              <a:t>Random Forest achieved the highest accuracy due to its ensemble learning capability and robustness in handling complex medical datasets.</a:t>
            </a:r>
          </a:p>
        </p:txBody>
      </p:sp>
    </p:spTree>
    <p:extLst>
      <p:ext uri="{BB962C8B-B14F-4D97-AF65-F5344CB8AC3E}">
        <p14:creationId xmlns:p14="http://schemas.microsoft.com/office/powerpoint/2010/main" val="549118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01C37-9540-8793-E9EE-8FE33A32D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087F3-ECB0-7F7E-0A40-7A84535D7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58" y="766917"/>
            <a:ext cx="9065341" cy="5653548"/>
          </a:xfrm>
        </p:spPr>
        <p:txBody>
          <a:bodyPr/>
          <a:lstStyle/>
          <a:p>
            <a:r>
              <a:rPr lang="en-GB" sz="2400" dirty="0"/>
              <a:t>The project successfully demonstrates the use of machine learning techniques for predicting heart disease using patient medical data.</a:t>
            </a:r>
          </a:p>
          <a:p>
            <a:endParaRPr lang="en-GB" dirty="0"/>
          </a:p>
          <a:p>
            <a:r>
              <a:rPr lang="en-GB" sz="2400" dirty="0"/>
              <a:t>Random Forest achieved the best performance among all implemented models.</a:t>
            </a:r>
          </a:p>
          <a:p>
            <a:endParaRPr lang="en-GB" sz="2400" dirty="0"/>
          </a:p>
          <a:p>
            <a:r>
              <a:rPr lang="en-GB" sz="2400" dirty="0"/>
              <a:t>The system improves early diagnosis, reduces dependency on manual analysis, and supports healthcare professionals in making accurate and efficient decisions.</a:t>
            </a:r>
          </a:p>
        </p:txBody>
      </p:sp>
    </p:spTree>
    <p:extLst>
      <p:ext uri="{BB962C8B-B14F-4D97-AF65-F5344CB8AC3E}">
        <p14:creationId xmlns:p14="http://schemas.microsoft.com/office/powerpoint/2010/main" val="3672361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body" idx="1"/>
          </p:nvPr>
        </p:nvSpPr>
        <p:spPr>
          <a:xfrm>
            <a:off x="147889" y="1083382"/>
            <a:ext cx="8809499" cy="457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>
              <a:spcBef>
                <a:spcPts val="0"/>
              </a:spcBef>
              <a:buSzPts val="2400"/>
              <a:buNone/>
            </a:pPr>
            <a:r>
              <a:rPr lang="en-GB" sz="2400" b="1" dirty="0"/>
              <a:t>AI-Based Prediction Enhancement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2400" dirty="0"/>
              <a:t>Integrate advanced deep learning models for improved prediction accuracy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dirty="0"/>
              <a:t> </a:t>
            </a:r>
            <a:r>
              <a:rPr lang="en-GB" sz="2400" dirty="0"/>
              <a:t>Integrate real-time patient monitoring.</a:t>
            </a:r>
            <a:endParaRPr sz="24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0"/>
              </a:spcBef>
              <a:buSzPts val="2400"/>
              <a:buNone/>
            </a:pPr>
            <a:r>
              <a:rPr lang="en-GB" sz="2400" b="1" dirty="0"/>
              <a:t>Real-Time Healthcare Integration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2400" dirty="0"/>
              <a:t>Connect the system with real-time patient monitoring devices.</a:t>
            </a:r>
          </a:p>
          <a:p>
            <a:pPr marL="0" lvl="0" indent="0">
              <a:spcBef>
                <a:spcPts val="0"/>
              </a:spcBef>
              <a:buSzPts val="2400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0"/>
              </a:spcBef>
              <a:buSzPts val="2400"/>
              <a:buNone/>
            </a:pPr>
            <a:r>
              <a:rPr lang="en-GB" sz="2400" b="1" dirty="0"/>
              <a:t>Web and Mobile Deployment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2400" dirty="0"/>
              <a:t>Develop a responsive web and mobile application for accessibility.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0"/>
              </a:spcBef>
              <a:buSzPts val="2400"/>
              <a:buNone/>
            </a:pPr>
            <a:r>
              <a:rPr lang="en-GB" sz="2400" b="1" dirty="0"/>
              <a:t>Large-Scale Dataset Analysis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sz="2400" dirty="0"/>
              <a:t>Use larger and more diverse healthcare datasets for better generalization.</a:t>
            </a:r>
            <a:r>
              <a:rPr lang="en-GB" dirty="0"/>
              <a:t> </a:t>
            </a:r>
            <a:r>
              <a:rPr lang="en-GB" sz="2400" dirty="0"/>
              <a:t>Improve model accuracy and performance.</a:t>
            </a: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1"/>
          </p:nvPr>
        </p:nvSpPr>
        <p:spPr>
          <a:xfrm>
            <a:off x="117987" y="883316"/>
            <a:ext cx="8845038" cy="5386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SzPts val="2400"/>
              <a:buFont typeface="Times New Roman"/>
              <a:buChar char="•"/>
            </a:pPr>
            <a:r>
              <a:rPr lang="en-GB" sz="2400" dirty="0"/>
              <a:t>UCI Machine Learning Repository – University of California, Irvine (2019)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400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SzPts val="2400"/>
              <a:buFont typeface="Times New Roman"/>
              <a:buChar char="•"/>
            </a:pPr>
            <a:r>
              <a:rPr lang="en-GB" sz="2400" dirty="0"/>
              <a:t>Scikit-learn Documentation – Machine Learning Library for Python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400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SzPts val="2400"/>
              <a:buFont typeface="Times New Roman"/>
              <a:buChar char="•"/>
            </a:pPr>
            <a:r>
              <a:rPr lang="en-GB" sz="2400" dirty="0"/>
              <a:t>IEEE Research Papers on Heart Disease Prediction and Healthcare Analytics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400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SzPts val="2400"/>
              <a:buFont typeface="Times New Roman"/>
              <a:buChar char="•"/>
            </a:pPr>
            <a:r>
              <a:rPr lang="en-GB" sz="2400" dirty="0"/>
              <a:t>World Health Organization (WHO) – Cardiovascular Diseases Report (2023)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SzPts val="2400"/>
              <a:buFont typeface="Times New Roman"/>
              <a:buChar char="•"/>
            </a:pPr>
            <a:endParaRPr lang="en-GB" sz="2400" dirty="0"/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SzPts val="2400"/>
              <a:buFont typeface="Times New Roman"/>
              <a:buChar char="•"/>
            </a:pPr>
            <a:r>
              <a:rPr lang="en-GB" sz="2400" dirty="0"/>
              <a:t>Python Documentation – Data Processing and Machine Learning Implementation</a:t>
            </a: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96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808</Words>
  <Application>Microsoft Office PowerPoint</Application>
  <PresentationFormat>On-screen Show (4:3)</PresentationFormat>
  <Paragraphs>140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 Contents</vt:lpstr>
      <vt:lpstr>PowerPoint Presentation</vt:lpstr>
      <vt:lpstr> Problem Statement</vt:lpstr>
      <vt:lpstr> Objectives</vt:lpstr>
      <vt:lpstr> Key Features</vt:lpstr>
      <vt:lpstr> Dataset Description</vt:lpstr>
      <vt:lpstr> Methodology</vt:lpstr>
      <vt:lpstr>Algorithms Used</vt:lpstr>
      <vt:lpstr>Results &amp; Discussion</vt:lpstr>
      <vt:lpstr>Conclusion</vt:lpstr>
      <vt:lpstr> Future Scope</vt:lpstr>
      <vt:lpstr>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Garv Tayal</dc:creator>
  <cp:lastModifiedBy>Dell Dell</cp:lastModifiedBy>
  <cp:revision>4</cp:revision>
  <dcterms:created xsi:type="dcterms:W3CDTF">2010-04-09T07:36:15Z</dcterms:created>
  <dcterms:modified xsi:type="dcterms:W3CDTF">2026-05-17T16:37:23Z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